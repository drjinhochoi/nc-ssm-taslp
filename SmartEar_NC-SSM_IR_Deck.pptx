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2D"/>
                </a:solidFill>
                <a:latin typeface="Arial"/>
              </a:defRPr>
            </a:pPr>
            <a:r>
              <a:rPr lang="ko-KR" altLang="en-US" sz="1200" b="0" i="0" u="none" strike="noStrike">
                <a:solidFill>
                  <a:srgbClr val="0F1B2D"/>
                </a:solidFill>
                <a:latin typeface="Arial"/>
              </a:rPr>
              <a:t>극한 소음 </a:t>
            </a:r>
            <a:r>
              <a:rPr lang="en-US" altLang="ko-KR" sz="1200" b="0" i="0" u="none" strike="noStrike">
                <a:solidFill>
                  <a:srgbClr val="0F1B2D"/>
                </a:solidFill>
                <a:latin typeface="Arial"/>
              </a:rPr>
              <a:t>(-15dB) </a:t>
            </a:r>
            <a:r>
              <a:rPr lang="ko-KR" altLang="en-US" sz="1200" b="0" i="0" u="none" strike="noStrike">
                <a:solidFill>
                  <a:srgbClr val="0F1B2D"/>
                </a:solidFill>
                <a:latin typeface="Arial"/>
              </a:rPr>
              <a:t>정확도 </a:t>
            </a:r>
            <a:r>
              <a:rPr lang="en-US" altLang="ko-KR" sz="1200" b="0" i="0" u="none" strike="noStrike">
                <a:solidFill>
                  <a:srgbClr val="0F1B2D"/>
                </a:solidFill>
                <a:latin typeface="Arial"/>
              </a:rPr>
              <a:t>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BC-ResNet-1 (CNN)</c:v>
                </c:pt>
              </c:strCache>
            </c:strRef>
          </c:tx>
          <c:spPr>
            <a:solidFill>
              <a:srgbClr val="DC3C2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Factory</c:v>
                </c:pt>
                <c:pt idx="1">
                  <c:v>White</c:v>
                </c:pt>
                <c:pt idx="2">
                  <c:v>Babble</c:v>
                </c:pt>
                <c:pt idx="3">
                  <c:v>Street</c:v>
                </c:pt>
                <c:pt idx="4">
                  <c:v>Pink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64.5</c:v>
                </c:pt>
                <c:pt idx="1">
                  <c:v>58.6</c:v>
                </c:pt>
                <c:pt idx="2">
                  <c:v>76.7</c:v>
                </c:pt>
                <c:pt idx="3">
                  <c:v>60.7</c:v>
                </c:pt>
                <c:pt idx="4">
                  <c:v>58.9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21-442D-8094-B8D0DF36F8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NC-SSM-Large (SSM)</c:v>
                </c:pt>
              </c:strCache>
            </c:strRef>
          </c:tx>
          <c:spPr>
            <a:solidFill>
              <a:srgbClr val="00998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Factory</c:v>
                </c:pt>
                <c:pt idx="1">
                  <c:v>White</c:v>
                </c:pt>
                <c:pt idx="2">
                  <c:v>Babble</c:v>
                </c:pt>
                <c:pt idx="3">
                  <c:v>Street</c:v>
                </c:pt>
                <c:pt idx="4">
                  <c:v>Pink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61.3</c:v>
                </c:pt>
                <c:pt idx="1">
                  <c:v>34.1</c:v>
                </c:pt>
                <c:pt idx="2">
                  <c:v>74</c:v>
                </c:pt>
                <c:pt idx="3">
                  <c:v>57.8</c:v>
                </c:pt>
                <c:pt idx="4">
                  <c:v>55.4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21-442D-8094-B8D0DF36F8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NC-SSM-L + SS</c:v>
                </c:pt>
              </c:strCache>
            </c:strRef>
          </c:tx>
          <c:spPr>
            <a:solidFill>
              <a:srgbClr val="F5B73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Factory</c:v>
                </c:pt>
                <c:pt idx="1">
                  <c:v>White</c:v>
                </c:pt>
                <c:pt idx="2">
                  <c:v>Babble</c:v>
                </c:pt>
                <c:pt idx="3">
                  <c:v>Street</c:v>
                </c:pt>
                <c:pt idx="4">
                  <c:v>Pink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63.7</c:v>
                </c:pt>
                <c:pt idx="1">
                  <c:v>49.5</c:v>
                </c:pt>
                <c:pt idx="2">
                  <c:v>74.400000000000006</c:v>
                </c:pt>
                <c:pt idx="3">
                  <c:v>59.5</c:v>
                </c:pt>
                <c:pt idx="4">
                  <c:v>84.6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21-442D-8094-B8D0DF36F8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85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SMARTEAR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NC-SSM: 노이즈에 강한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초경량 AI 음성인식 칩 기술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Noise-Conditioned State Space Model for Edge 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4526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Relations  | 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4526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AI, 왜 현장에서 실패하는가?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" cy="32004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50%↓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시 정확도 하락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560320"/>
            <a:ext cx="1828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소음 환경 취약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공장·차량·야외 등 실제 환경에서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음성인식 정확도 30~50% 급락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383280" y="1417320"/>
            <a:ext cx="54864" cy="32004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57600" y="1554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65760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CNN 추론 지연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560320"/>
            <a:ext cx="1828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65760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과도한 전력 소모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기반 모델은 4.7M MACs로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 소모가 크고 항시 동작 불가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4173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217920" y="1417320"/>
            <a:ext cx="54864" cy="32004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92240" y="1554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102KB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9224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모델 RAM 사용량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2560320"/>
            <a:ext cx="1828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9224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초과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디바이스 256KB SRAM 한계에서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모델 102KB RAM 점유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NC-SSM: 구조적 노이즈 내성 엔진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3017520"/>
          </a:xfrm>
          <a:prstGeom prst="rect">
            <a:avLst/>
          </a:prstGeom>
          <a:solidFill>
            <a:srgbClr val="1A27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선택적 상태공간 모델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의존적 동역학으로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소음을 자동 감쇠하는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노이즈 내성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606040" cy="3017520"/>
          </a:xfrm>
          <a:prstGeom prst="rect">
            <a:avLst/>
          </a:prstGeom>
          <a:solidFill>
            <a:srgbClr val="1A27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11880" y="160020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118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2286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주파수별 게이팅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28346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서브밴드별 선택성 제어로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깨끗한 대역은 보존,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오염 대역만 LTI 전환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606040" cy="3017520"/>
          </a:xfrm>
          <a:prstGeom prst="rect">
            <a:avLst/>
          </a:prstGeom>
          <a:solidFill>
            <a:srgbClr val="1A27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46520" y="160020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46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286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적응형 스펙트럼 강화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8346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기반 자동 바이패스로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파라미터 추가 없이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극한 소음에서 +15%p 개선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대비 압도적 효율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4864" cy="155448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5.5×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468880" y="1463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연산량 절감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(MACs)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0.85M vs 4.70M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54864" cy="155448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5.4×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675120" y="1463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 속도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(Latency)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1.8ms vs 9.8ms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864" cy="155448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3.2×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2468880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절감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(RAM)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31.7KB vs 102KB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54864" cy="155448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29200" y="32004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95.6%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675120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인식 정확도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(Clean)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BC-ResNet-1: 95.3%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SSM vs CNN: 구조적 우위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280720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(BC-ResNet-1)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NC-SSM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(Proposed)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21개 적음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연산량 (MACs)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추론 지연 (Cortex-M7)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사용량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102.0KB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에너지 (μJ/추론)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노이즈 내성 (구조적)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O(σ²)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O(σ²)→O(σ⁶) 제어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적응형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1A27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54864" cy="640080"/>
          </a:xfrm>
          <a:prstGeom prst="rect">
            <a:avLst/>
          </a:prstGeom>
          <a:solidFill>
            <a:srgbClr val="F5B73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2960" y="42062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인사이트: </a:t>
            </a: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SSM은 시간 축 1D 처리 (상태 벡터 N=6)로 O(TDN) 복잡도. CNN은 2D 공간 컨볼루션으로 O(K²C²HW). 이 구조적 차이가 모든 스케일에서 효율 우위를 만듦.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ROBUSTNESS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소음 환경 × 7 SNR 조건 평가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280160"/>
            <a:ext cx="29260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80760" y="1417320"/>
            <a:ext cx="36576" cy="86868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26364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내성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6364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학습만으로도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대비 11%p 우위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(0dB, 77.7% vs 66.7%)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80760" y="2514600"/>
            <a:ext cx="36576" cy="86868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26364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SS+Bypass 효과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63640" y="2788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+ 스펙트럼 강화 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+29.2%p 극적 개선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파라미터 추가)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80760" y="3611880"/>
            <a:ext cx="36576" cy="86868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26364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비정상 소음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63640" y="3886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Babble(대화 소음)에서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작은 gap 기록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적응형 역학의 강점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음성인식 시장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920240"/>
          </a:xfrm>
          <a:prstGeom prst="rect">
            <a:avLst/>
          </a:prstGeom>
          <a:solidFill>
            <a:srgbClr val="1A27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$12.1B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반도체 시장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2028년 전망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18.2%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51760" cy="1920240"/>
          </a:xfrm>
          <a:prstGeom prst="rect">
            <a:avLst/>
          </a:prstGeom>
          <a:solidFill>
            <a:srgbClr val="1A27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56616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$5.4B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6616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음성인식 디바이스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2027년 전망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22.5%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51760" cy="1920240"/>
          </a:xfrm>
          <a:prstGeom prst="rect">
            <a:avLst/>
          </a:prstGeom>
          <a:solidFill>
            <a:srgbClr val="1A27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4652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150억+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4652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디바이스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2030년 누적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12% 성장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세그먼트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1965960" cy="86868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965960" cy="36576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94360" y="4069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팩토리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 소음 속 음성 명령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3977640"/>
            <a:ext cx="1965960" cy="86868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606040" y="3977640"/>
            <a:ext cx="1965960" cy="36576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743200" y="4069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차량용 KWS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소음 속 Wake-up Word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977640"/>
            <a:ext cx="1965960" cy="86868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754880" y="3977640"/>
            <a:ext cx="1965960" cy="36576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892040" y="4069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이어버드·보청기 초저전력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3977640"/>
            <a:ext cx="1965960" cy="86868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03720" y="3977640"/>
            <a:ext cx="1965960" cy="36576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040880" y="4069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스마트홈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가전·인터폰 저비용 KWS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라이선싱 + 솔루션 판매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4048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라이선싱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반도체 설계업체 대상 SSM 코어 라이선스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칩당 로열티 모델 ($.02~.05/unit)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벤더 파트너십 (STM32, nRF)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포트폴리오 (SSM 노이즈 내성)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840480" cy="54864"/>
          </a:xfrm>
          <a:prstGeom prst="rect">
            <a:avLst/>
          </a:prstGeom>
          <a:solidFill>
            <a:srgbClr val="F5B73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판매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턴키 KWS SDK (학습+추론+배포)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커스텀 키워드 모델 개발 서비스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 프로파일링 컨설팅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유지보수 + 모델 업데이트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MOAT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따라잡기 어려운가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40480" cy="1463040"/>
          </a:xfrm>
          <a:prstGeom prst="rect">
            <a:avLst/>
          </a:prstGeom>
          <a:solidFill>
            <a:srgbClr val="1A27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4864" cy="146304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기반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O(σ⁶) 노이즈 전파 분석,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LTI-SSM ≡ Learned Conv1D 증명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학술 논문으로 검증된 원천 기술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840480" cy="1463040"/>
          </a:xfrm>
          <a:prstGeom prst="rect">
            <a:avLst/>
          </a:prstGeom>
          <a:solidFill>
            <a:srgbClr val="1A27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54864" cy="1463040"/>
          </a:xfrm>
          <a:prstGeom prst="rect">
            <a:avLst/>
          </a:prstGeom>
          <a:solidFill>
            <a:srgbClr val="F5B73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효율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7,443개 파라미터로 7,464개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CNN과 동일 정확도 달성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극한의 최적화 노하우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840480" cy="1463040"/>
          </a:xfrm>
          <a:prstGeom prst="rect">
            <a:avLst/>
          </a:prstGeom>
          <a:solidFill>
            <a:srgbClr val="1A27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4864" cy="146304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296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소음 적응 아키텍처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서브밴드별 선택성 + NASG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스펙트럼 강화 3중 구조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모듈 단위로 특허 보호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3840480" cy="1463040"/>
          </a:xfrm>
          <a:prstGeom prst="rect">
            <a:avLst/>
          </a:prstGeom>
          <a:solidFill>
            <a:srgbClr val="1A27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54864" cy="1463040"/>
          </a:xfrm>
          <a:prstGeom prst="rect">
            <a:avLst/>
          </a:prstGeom>
          <a:solidFill>
            <a:srgbClr val="6C9B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엣지 최적화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520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Cortex-M7에서 1.8ms 추론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31.7KB RAM, 354μJ 에너지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실제 MCU 검증 완료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상용화 로드맵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768096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34440" y="1938528"/>
            <a:ext cx="329184" cy="329184"/>
          </a:xfrm>
          <a:prstGeom prst="ellipse">
            <a:avLst/>
          </a:prstGeom>
          <a:solidFill>
            <a:srgbClr val="00C9A7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96596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436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발표 + IP 확보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0175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TASLP 논문 게재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특허 2건 출원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STM32H7 PoC 완성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4343400"/>
            <a:ext cx="914400" cy="25603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94360" y="4343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938528"/>
            <a:ext cx="329184" cy="329184"/>
          </a:xfrm>
          <a:prstGeom prst="ellipse">
            <a:avLst/>
          </a:prstGeom>
          <a:solidFill>
            <a:srgbClr val="0F1B2D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74320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06040" y="246888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606040" y="2468880"/>
            <a:ext cx="196596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74320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베타 + 파일럿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30175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턴키 KWS SDK v1.0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고객 2~3사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차량용 데모 개발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0" y="4343400"/>
            <a:ext cx="914400" cy="256032"/>
          </a:xfrm>
          <a:prstGeom prst="rect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743200" y="4343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32120" y="1938528"/>
            <a:ext cx="329184" cy="329184"/>
          </a:xfrm>
          <a:prstGeom prst="ellipse">
            <a:avLst/>
          </a:prstGeom>
          <a:solidFill>
            <a:srgbClr val="0F1B2D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9204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H1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46888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196596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89204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출시 + 라이선스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0175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정식 출시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벤더 파트너십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로열티 모델 시작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4343400"/>
            <a:ext cx="914400" cy="256032"/>
          </a:xfrm>
          <a:prstGeom prst="rect">
            <a:avLst/>
          </a:prstGeom>
          <a:solidFill>
            <a:srgbClr val="2874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892040" y="4343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80960" y="1938528"/>
            <a:ext cx="329184" cy="329184"/>
          </a:xfrm>
          <a:prstGeom prst="ellipse">
            <a:avLst/>
          </a:prstGeom>
          <a:solidFill>
            <a:srgbClr val="0F1B2D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04088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H2+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03720" y="246888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903720" y="2468880"/>
            <a:ext cx="196596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04088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스케일업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40880" y="30175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멀티키워드 확장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모델 지원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보청기·웨어러블 진출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40880" y="4343400"/>
            <a:ext cx="914400" cy="256032"/>
          </a:xfrm>
          <a:prstGeom prst="rect">
            <a:avLst/>
          </a:prstGeom>
          <a:solidFill>
            <a:srgbClr val="8FA3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040880" y="4343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"소음이 있는 곳에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AI가 작동해야 합니다"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0" y="2194560"/>
            <a:ext cx="18288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SmartEar는 세계 최소·최효율 노이즈 내성 KWS 기술로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150억+ IoT 디바이스에 음성 AI를 탑재합니다.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383280"/>
            <a:ext cx="4572000" cy="1280160"/>
          </a:xfrm>
          <a:prstGeom prst="rect">
            <a:avLst/>
          </a:prstGeom>
          <a:solidFill>
            <a:srgbClr val="1A27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286000" y="3383280"/>
            <a:ext cx="457200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468880" y="3520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 Ho Choi  |  CEO &amp; Founder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4114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jinhochoi@smartear.co.kr  |  SmartEar Company, Seoul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728</Words>
  <Application>Microsoft Office PowerPoint</Application>
  <PresentationFormat>화면 슬라이드 쇼(16:9)</PresentationFormat>
  <Paragraphs>206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SmartEar - NC-SSM Deep Tech IR</dc:title>
  <dc:subject>PptxGenJS Presentation</dc:subject>
  <dc:creator>SmartEar Company</dc:creator>
  <cp:lastModifiedBy>jinho choi</cp:lastModifiedBy>
  <cp:revision>2</cp:revision>
  <dcterms:created xsi:type="dcterms:W3CDTF">2026-03-14T11:03:36Z</dcterms:created>
  <dcterms:modified xsi:type="dcterms:W3CDTF">2026-03-15T02:21:43Z</dcterms:modified>
</cp:coreProperties>
</file>